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0">
                <a:solidFill>
                  <a:srgbClr val="F5E0E0"/>
                </a:solidFill>
                <a:latin typeface="Calibri"/>
              </a:defRPr>
            </a:pPr>
            <a:r>
              <a:t>Your Multi-Project AI Chat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300" b="0">
                <a:solidFill>
                  <a:srgbClr val="7A7A7A"/>
                </a:solidFill>
                <a:latin typeface="Calibri"/>
              </a:defRPr>
            </a:pPr>
            <a:r>
              <a:t>Enterprise-grade AI workspaces with project isolation,</a:t>
            </a:r>
            <a:br/>
            <a:r>
              <a:t>RBAC, and multi-agent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73152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Onboarding Overview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WHY FRONTIER?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7A7A7A"/>
                </a:solidFill>
                <a:latin typeface="Calibri"/>
              </a:defRPr>
            </a:pPr>
            <a:r>
              <a:t>Bridging the gap between consumer AI tools and enterprise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2B2B2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2004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Consumer AI tools lack team isolation and access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73152" cy="32004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No centralized management of AI agents across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73152" cy="32004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Vendor lock-in to a single AI provider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73152" cy="32004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No audit trail or approval workflow for production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E11A27"/>
                </a:solidFill>
                <a:latin typeface="Calibri"/>
              </a:defRPr>
            </a:pPr>
            <a:r>
              <a:t>The Frontier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28800"/>
            <a:ext cx="73152" cy="32004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Project-based isolation with dedicated database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331720"/>
            <a:ext cx="73152" cy="32004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331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Plug-and-play agent connectors (OpenAI, LangGraph, HTTP)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834640"/>
            <a:ext cx="73152" cy="32004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834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Enterprise RBAC with LDAP/AD group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337560"/>
            <a:ext cx="73152" cy="32004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3337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Built-in approval workflow and agent version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PLATFORM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2423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" cy="118872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B2B2B"/>
                </a:solidFill>
                <a:latin typeface="Calibri"/>
              </a:defRPr>
            </a:pPr>
            <a:r>
              <a:t>Multi-Project Workspaces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Isolated environments with</a:t>
            </a:r>
            <a:br/>
            <a:r>
              <a:t>dedicated databases per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097280"/>
            <a:ext cx="2423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08" y="1097280"/>
            <a:ext cx="54864" cy="1188720"/>
          </a:xfrm>
          <a:prstGeom prst="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207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B2B2B"/>
                </a:solidFill>
                <a:latin typeface="Calibri"/>
              </a:defRPr>
            </a:pPr>
            <a:r>
              <a:t>AI Agent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LangGraph, OpenAI, and generic</a:t>
            </a:r>
            <a:br/>
            <a:r>
              <a:t>HTTP streaming connectors.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88736" y="1097280"/>
            <a:ext cx="2423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88736" y="1097280"/>
            <a:ext cx="54864" cy="118872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207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B2B2B"/>
                </a:solidFill>
                <a:latin typeface="Calibri"/>
              </a:defRPr>
            </a:pPr>
            <a:r>
              <a:t>Real-Time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Token-by-token SSE responses</a:t>
            </a:r>
            <a:br/>
            <a:r>
              <a:t>for a ChatGPT-like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80"/>
            <a:ext cx="2423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468880"/>
            <a:ext cx="54864" cy="1188720"/>
          </a:xfrm>
          <a:prstGeom prst="rect">
            <a:avLst/>
          </a:prstGeom>
          <a:solidFill>
            <a:srgbClr val="A8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B2B2B"/>
                </a:solidFill>
                <a:latin typeface="Calibri"/>
              </a:defRPr>
            </a:pPr>
            <a:r>
              <a:t>RBAC &amp; LDAP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529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Role-based access with Owner,</a:t>
            </a:r>
            <a:br/>
            <a:r>
              <a:t>Admin, and Member roles.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2468880"/>
            <a:ext cx="2423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64408" y="2468880"/>
            <a:ext cx="54864" cy="1188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B2B2B"/>
                </a:solidFill>
                <a:latin typeface="Calibri"/>
              </a:defRPr>
            </a:pPr>
            <a:r>
              <a:t>Visual Site 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8529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Drag-and-drop dashboard editor</a:t>
            </a:r>
            <a:br/>
            <a:r>
              <a:t>with multi-page support.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736" y="2468880"/>
            <a:ext cx="2423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2468880"/>
            <a:ext cx="54864" cy="1188720"/>
          </a:xfrm>
          <a:prstGeom prst="rect">
            <a:avLst/>
          </a:prstGeom>
          <a:solidFill>
            <a:srgbClr val="2A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B2B2B"/>
                </a:solidFill>
                <a:latin typeface="Calibri"/>
              </a:defRPr>
            </a:pPr>
            <a:r>
              <a:t>Approval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7336" y="28529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Change requests, versioning,</a:t>
            </a:r>
            <a:br/>
            <a:r>
              <a:t>and rollback for production.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Everything you need to deploy secure, scalable AI workspaces across your organization.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solidFill>
            <a:srgbClr val="FD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E11A2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Svelte 4 + Vite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188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50" b="0">
                <a:solidFill>
                  <a:srgbClr val="3A3A3A"/>
                </a:solidFill>
                <a:latin typeface="Calibri"/>
              </a:defRPr>
            </a:pPr>
            <a:r>
              <a:t>Modern reactive SPA with real-time</a:t>
            </a:r>
            <a:br/>
            <a:r>
              <a:t>streaming, served by FastAPI</a:t>
            </a:r>
          </a:p>
        </p:txBody>
      </p:sp>
      <p:sp>
        <p:nvSpPr>
          <p:cNvPr id="9" name="Down Arrow 8"/>
          <p:cNvSpPr/>
          <p:nvPr/>
        </p:nvSpPr>
        <p:spPr>
          <a:xfrm>
            <a:off x="4389120" y="2057400"/>
            <a:ext cx="365760" cy="182880"/>
          </a:xfrm>
          <a:prstGeom prst="downArrow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7863840" cy="1005840"/>
          </a:xfrm>
          <a:prstGeom prst="rect">
            <a:avLst/>
          </a:prstGeom>
          <a:solidFill>
            <a:srgbClr val="E4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A5C97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Python /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50" b="0">
                <a:solidFill>
                  <a:srgbClr val="3A3A3A"/>
                </a:solidFill>
                <a:latin typeface="Calibri"/>
              </a:defRPr>
            </a:pPr>
            <a:r>
              <a:t>REST API + SSE streaming, modular</a:t>
            </a:r>
            <a:br/>
            <a:r>
              <a:t>routers, JWT auth, agent connectors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89120" y="3246120"/>
            <a:ext cx="365760" cy="182880"/>
          </a:xfrm>
          <a:prstGeom prst="downArrow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7863840" cy="100584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4A4A5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PostgreSQL / YugabyteDB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50" b="0">
                <a:solidFill>
                  <a:srgbClr val="3A3A3A"/>
                </a:solidFill>
                <a:latin typeface="Calibri"/>
              </a:defRPr>
            </a:pPr>
            <a:r>
              <a:t>Dynamic per-project tables, schema</a:t>
            </a:r>
            <a:br/>
            <a:r>
              <a:t>isolation, automatic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7A7A7A"/>
                </a:solidFill>
                <a:latin typeface="Calibri"/>
              </a:defRPr>
            </a:pPr>
            <a:r>
              <a:t>Uvicorn ASGI  •  SQLAlchemy ORM  •  JWT + LDAP Auth  •  Prometheus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AI AGENT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7A7A7A"/>
                </a:solidFill>
                <a:latin typeface="Calibri"/>
              </a:defRPr>
            </a:pPr>
            <a:r>
              <a:t>One interface, multiple AI backends. No vendor lock-in.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606040" cy="201168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606040" cy="54864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Stateful graph-based workflows</a:t>
            </a:r>
            <a:br/>
            <a:r>
              <a:t>with thread management and</a:t>
            </a:r>
            <a:br/>
            <a:r>
              <a:t>complex multi-step reasoning.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2606040" cy="201168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2606040" cy="54864"/>
          </a:xfrm>
          <a:prstGeom prst="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659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Compatible with OpenAI API</a:t>
            </a:r>
            <a:br/>
            <a:r>
              <a:t>and Azure OpenAI. Simple, fast,</a:t>
            </a:r>
            <a:br/>
            <a:r>
              <a:t>and widely adopted.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606040" cy="201168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606040" cy="54864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Generic HTTP streaming for</a:t>
            </a:r>
            <a:br/>
            <a:r>
              <a:t>any custom AI backend. Full</a:t>
            </a:r>
            <a:br/>
            <a:r>
              <a:t>flexibility for custom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F5E0E0"/>
                </a:solidFill>
                <a:latin typeface="Calibri"/>
              </a:defRPr>
            </a:pPr>
            <a:r>
              <a:t>All connectors share a unified BaseAgentConnector interface:</a:t>
            </a:r>
            <a:br/>
            <a:r>
              <a:t>stream()  •  close()  •  get_auth_headers()  •  Bearer / Basic / API Key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PROJECT ISOLATION MODEL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B2B2B"/>
                </a:solidFill>
                <a:latin typeface="Calibri"/>
              </a:defRPr>
            </a:pPr>
            <a:r>
              <a:t>Database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Each project gets dedicated</a:t>
            </a:r>
            <a:br/>
            <a:r>
              <a:t>conversation and message tables.</a:t>
            </a:r>
            <a:br/>
            <a:r>
              <a:t>No cross-project data leakage.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143000"/>
            <a:ext cx="3474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344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50" b="0">
                <a:solidFill>
                  <a:srgbClr val="E11A27"/>
                </a:solidFill>
                <a:latin typeface="Consolas"/>
              </a:defRPr>
            </a:pPr>
            <a:r>
              <a:t>my_project_conversation</a:t>
            </a:r>
            <a:br/>
            <a:r>
              <a:t>my_project_messages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B2B2B"/>
                </a:solidFill>
                <a:latin typeface="Calibri"/>
              </a:defRPr>
            </a:pPr>
            <a:r>
              <a:t>Permission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060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RBAC enforces strict project</a:t>
            </a:r>
            <a:br/>
            <a:r>
              <a:t>membership. Users only access</a:t>
            </a:r>
            <a:br/>
            <a:r>
              <a:t>their assigned projects.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77440"/>
            <a:ext cx="3474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4688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50" b="0">
                <a:solidFill>
                  <a:srgbClr val="E11A27"/>
                </a:solidFill>
                <a:latin typeface="Consolas"/>
              </a:defRPr>
            </a:pPr>
            <a:r>
              <a:t>Owner  ›  Admin  ›  Member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935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B2B2B"/>
                </a:solidFill>
                <a:latin typeface="Calibri"/>
              </a:defRPr>
            </a:pPr>
            <a:r>
              <a:t>Configuration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40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Agents, members, and settings</a:t>
            </a:r>
            <a:br/>
            <a:r>
              <a:t>are scoped per project.</a:t>
            </a:r>
            <a:br/>
            <a:r>
              <a:t>No shared configurations.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611880"/>
            <a:ext cx="3474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7033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50" b="0">
                <a:solidFill>
                  <a:srgbClr val="E11A27"/>
                </a:solidFill>
                <a:latin typeface="Consolas"/>
              </a:defRPr>
            </a:pPr>
            <a:r>
              <a:t>Agents  •  Members  • 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2B2B2B"/>
                </a:solidFill>
                <a:latin typeface="Calibri"/>
              </a:defRPr>
            </a:pPr>
            <a:r>
              <a:t>AUTHENTICATION &amp;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3749039" cy="347472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645920"/>
            <a:ext cx="109728" cy="109728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JWT tokens with configurable expiry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109728" cy="109728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LDAP / Active Directory integration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60320"/>
            <a:ext cx="109728" cy="109728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Fallback to local authentication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017520"/>
            <a:ext cx="109728" cy="109728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A3A3A"/>
                </a:solidFill>
                <a:latin typeface="Calibri"/>
              </a:defRPr>
            </a:pPr>
            <a:r>
              <a:t>Platform-wide owner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005840"/>
            <a:ext cx="3749039" cy="347472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60020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600200"/>
            <a:ext cx="54864" cy="50292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6184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2B2B2B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828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7A7A7A"/>
                </a:solidFill>
                <a:latin typeface="Calibri"/>
              </a:defRPr>
            </a:pPr>
            <a:r>
              <a:t>Full project control, delete, manage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24028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2240280"/>
            <a:ext cx="54864" cy="50292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2585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2B2B2B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468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7A7A7A"/>
                </a:solidFill>
                <a:latin typeface="Calibri"/>
              </a:defRPr>
            </a:pPr>
            <a:r>
              <a:t>Manage members, configure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88036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2880360"/>
            <a:ext cx="54864" cy="50292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8986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2B2B2B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108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7A7A7A"/>
                </a:solidFill>
                <a:latin typeface="Calibri"/>
              </a:defRPr>
            </a:pPr>
            <a:r>
              <a:t>Chat and manage own 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E11A27"/>
                </a:solidFill>
                <a:latin typeface="Calibri"/>
              </a:defRPr>
            </a:pPr>
            <a:r>
              <a:t>Plus: per-agent permissions for</a:t>
            </a:r>
            <a:br/>
            <a:r>
              <a:t>individual users and AD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SITE BUILDER &amp; ARTEFACTS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3749039" cy="320040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Visual Site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Grid-based drag-and-drop editor (8px snap)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Components: Heading, Paragraph, Button,</a:t>
            </a:r>
            <a:br/>
            <a:r>
              <a:t>Image, Form, Chat Window,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054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Multi-page support with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809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Undo/redo history and live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56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Image uploads (5MB max, validated formats)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3749039" cy="320040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Artefacts Gallery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Share agents across the organization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02996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Searchable gallery with icons and previews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5054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Agents marked as artefacts appear</a:t>
            </a:r>
            <a:br/>
            <a:r>
              <a:t>org-wide for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9809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Icons stored as base64 or URLs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456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50" b="0">
                <a:solidFill>
                  <a:srgbClr val="3A3A3A"/>
                </a:solidFill>
                <a:latin typeface="Calibri"/>
              </a:defRPr>
            </a:pPr>
            <a:r>
              <a:t>›  Promotes reuse and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B2B2B"/>
                </a:solidFill>
                <a:latin typeface="Calibri"/>
              </a:defRPr>
            </a:pPr>
            <a:r>
              <a:t>APPROVAL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7A7A7A"/>
                </a:solidFill>
                <a:latin typeface="Calibri"/>
              </a:defRPr>
            </a:pPr>
            <a:r>
              <a:t>Production-grade change management for agent configurations.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920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600200"/>
            <a:ext cx="457200" cy="4572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2B2B2B"/>
                </a:solidFill>
                <a:latin typeface="Calibri"/>
              </a:defRPr>
            </a:pPr>
            <a:r>
              <a:t>Agent Modified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Changes to agent config</a:t>
            </a:r>
            <a:br/>
            <a:r>
              <a:t>trigger a change request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77440" y="2103120"/>
            <a:ext cx="228600" cy="320040"/>
          </a:xfrm>
          <a:prstGeom prst="rightArrow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463040"/>
            <a:ext cx="1920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37560" y="1600200"/>
            <a:ext cx="457200" cy="4572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627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2B2B2B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Designated approvers</a:t>
            </a:r>
            <a:br/>
            <a:r>
              <a:t>review the change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26280" y="2103120"/>
            <a:ext cx="228600" cy="320040"/>
          </a:xfrm>
          <a:prstGeom prst="rightArrow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463040"/>
            <a:ext cx="1920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1600200"/>
            <a:ext cx="457200" cy="4572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627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2B2B2B"/>
                </a:solidFill>
                <a:latin typeface="Calibri"/>
              </a:defRPr>
            </a:pPr>
            <a: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Any, all, or majority</a:t>
            </a:r>
            <a:br/>
            <a:r>
              <a:t>approval modes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75120" y="2103120"/>
            <a:ext cx="228600" cy="320040"/>
          </a:xfrm>
          <a:prstGeom prst="rightArrow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1463040"/>
            <a:ext cx="1920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35240" y="1600200"/>
            <a:ext cx="457200" cy="4572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627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2B2B2B"/>
                </a:solidFill>
                <a:latin typeface="Calibri"/>
              </a:defRPr>
            </a:pPr>
            <a:r>
              <a:t>Version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3A3A3A"/>
                </a:solidFill>
                <a:latin typeface="Calibri"/>
              </a:defRPr>
            </a:pPr>
            <a:r>
              <a:t>Config versioned with</a:t>
            </a:r>
            <a:br/>
            <a:r>
              <a:t>full rollback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52044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7A7A7A"/>
                </a:solidFill>
                <a:latin typeface="Calibri"/>
              </a:defRPr>
            </a:pPr>
            <a:r>
              <a:t>Self-approval prevention  •  Auto-adds project owner as approver  •  Environment-aware (production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GET STARTED WITH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7A7A7A"/>
                </a:solidFill>
                <a:latin typeface="Calibri"/>
              </a:defRPr>
            </a:pPr>
            <a:r>
              <a:t>Create a project, configure an agent connector, and start chatting.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606040" cy="2423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2606040" cy="4572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E11A27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1.  Set connector type to langgraph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2.  Provide your LangGraph endpoint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3.  Configure thread management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4.  Add auth (Bearer / API key)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2606040" cy="2423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2606040" cy="457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45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C49A2A"/>
                </a:solidFill>
                <a:latin typeface="Calibri"/>
              </a:defRPr>
            </a:pPr>
            <a:r>
              <a:t>OpenAI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1.  Set connector type to openai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2.  Point to OpenAI or Azure endpoint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3.  Select model (gpt-4, gpt-3.5...)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4.  Add API key in agent auth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2606040" cy="2423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2606040" cy="45720"/>
          </a:xfrm>
          <a:prstGeom prst="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1A5C97"/>
                </a:solidFill>
                <a:latin typeface="Calibri"/>
              </a:defRPr>
            </a:pPr>
            <a:r>
              <a:t>HTTP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1.  Set connector type to http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2.  Provide your custom backend URL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3.  Configure SSE streaming params</a:t>
            </a:r>
          </a:p>
          <a:p>
            <a:pPr algn="l">
              <a:spcAft>
                <a:spcPts val="800"/>
              </a:spcAft>
              <a:defRPr sz="1050" b="0">
                <a:solidFill>
                  <a:srgbClr val="F5E0E0"/>
                </a:solidFill>
                <a:latin typeface="Calibri"/>
              </a:defRPr>
            </a:pPr>
            <a:r>
              <a:t>4.  Add auth (Bearer, Basic, API key)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73152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7A7A7A"/>
                </a:solidFill>
                <a:latin typeface="Calibri"/>
              </a:defRPr>
            </a:pPr>
            <a:r>
              <a:t>All connectors inherit from BaseAgentConnector  •  Unified stream() interface  •  No vendor lock-in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